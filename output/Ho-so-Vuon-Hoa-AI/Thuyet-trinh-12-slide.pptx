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f34d4e060048bd" /><Relationship Type="http://schemas.openxmlformats.org/officeDocument/2006/relationships/extended-properties" Target="/docProps/app.xml" Id="R6854cd4e743d45fd" /><Relationship Type="http://schemas.openxmlformats.org/officeDocument/2006/relationships/officeDocument" Target="/ppt/presentation.xml" Id="Ra38ffb3543ed4e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c4fe2a8c8e42f6"/>
  </p:sldMasterIdLst>
  <p:notesMasterIdLst>
    <p:notesMasterId xmlns:r="http://schemas.openxmlformats.org/officeDocument/2006/relationships" r:id="R31ff0672b6e64603"/>
  </p:notesMasterIdLst>
  <p:sldIdLst>
    <p:sldId xmlns:r="http://schemas.openxmlformats.org/officeDocument/2006/relationships" id="256" r:id="R96a555e47967465a"/>
    <p:sldId xmlns:r="http://schemas.openxmlformats.org/officeDocument/2006/relationships" id="257" r:id="R40a82e68a8484f21"/>
    <p:sldId xmlns:r="http://schemas.openxmlformats.org/officeDocument/2006/relationships" id="258" r:id="R141d899a77a4430c"/>
    <p:sldId xmlns:r="http://schemas.openxmlformats.org/officeDocument/2006/relationships" id="259" r:id="R27b172bb1ed94cfc"/>
    <p:sldId xmlns:r="http://schemas.openxmlformats.org/officeDocument/2006/relationships" id="260" r:id="Rbc307df2c1334ee2"/>
    <p:sldId xmlns:r="http://schemas.openxmlformats.org/officeDocument/2006/relationships" id="261" r:id="R711f424f2bc14ec8"/>
    <p:sldId xmlns:r="http://schemas.openxmlformats.org/officeDocument/2006/relationships" id="262" r:id="Rf48b6c90a9474861"/>
    <p:sldId xmlns:r="http://schemas.openxmlformats.org/officeDocument/2006/relationships" id="263" r:id="R373f78b5df8c4596"/>
    <p:sldId xmlns:r="http://schemas.openxmlformats.org/officeDocument/2006/relationships" id="264" r:id="R84a75f3e69c5489a"/>
    <p:sldId xmlns:r="http://schemas.openxmlformats.org/officeDocument/2006/relationships" id="265" r:id="R6e0eaa89bb0b48bf"/>
    <p:sldId xmlns:r="http://schemas.openxmlformats.org/officeDocument/2006/relationships" id="266" r:id="R077fcb74cc1b4327"/>
    <p:sldId xmlns:r="http://schemas.openxmlformats.org/officeDocument/2006/relationships" id="267" r:id="R8dcc2b224ed949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855721e80c4d86" /><Relationship Type="http://schemas.openxmlformats.org/officeDocument/2006/relationships/slideMaster" Target="/ppt/slideMasters/slideMaster1.xml" Id="Rcac4fe2a8c8e42f6" /><Relationship Type="http://schemas.openxmlformats.org/officeDocument/2006/relationships/notesMaster" Target="/ppt/notesMasters/notesMaster1.xml" Id="R31ff0672b6e64603" /><Relationship Type="http://schemas.openxmlformats.org/officeDocument/2006/relationships/presProps" Target="/ppt/presProps.xml" Id="R96603d6304814826" /><Relationship Type="http://schemas.openxmlformats.org/officeDocument/2006/relationships/tableStyles" Target="/ppt/tableStyles.xml" Id="R36095edbb6b84c9d" /><Relationship Type="http://schemas.openxmlformats.org/officeDocument/2006/relationships/slide" Target="/ppt/slides/slide1.xml" Id="R96a555e47967465a" /><Relationship Type="http://schemas.openxmlformats.org/officeDocument/2006/relationships/slide" Target="/ppt/slides/slide2.xml" Id="R40a82e68a8484f21" /><Relationship Type="http://schemas.openxmlformats.org/officeDocument/2006/relationships/slide" Target="/ppt/slides/slide3.xml" Id="R141d899a77a4430c" /><Relationship Type="http://schemas.openxmlformats.org/officeDocument/2006/relationships/slide" Target="/ppt/slides/slide4.xml" Id="R27b172bb1ed94cfc" /><Relationship Type="http://schemas.openxmlformats.org/officeDocument/2006/relationships/slide" Target="/ppt/slides/slide5.xml" Id="Rbc307df2c1334ee2" /><Relationship Type="http://schemas.openxmlformats.org/officeDocument/2006/relationships/slide" Target="/ppt/slides/slide6.xml" Id="R711f424f2bc14ec8" /><Relationship Type="http://schemas.openxmlformats.org/officeDocument/2006/relationships/slide" Target="/ppt/slides/slide7.xml" Id="Rf48b6c90a9474861" /><Relationship Type="http://schemas.openxmlformats.org/officeDocument/2006/relationships/slide" Target="/ppt/slides/slide8.xml" Id="R373f78b5df8c4596" /><Relationship Type="http://schemas.openxmlformats.org/officeDocument/2006/relationships/slide" Target="/ppt/slides/slide9.xml" Id="R84a75f3e69c5489a" /><Relationship Type="http://schemas.openxmlformats.org/officeDocument/2006/relationships/slide" Target="/ppt/slides/slide10.xml" Id="R6e0eaa89bb0b48bf" /><Relationship Type="http://schemas.openxmlformats.org/officeDocument/2006/relationships/slide" Target="/ppt/slides/slide11.xml" Id="R077fcb74cc1b4327" /><Relationship Type="http://schemas.openxmlformats.org/officeDocument/2006/relationships/slide" Target="/ppt/slides/slide12.xml" Id="R8dcc2b224ed949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7744c22fd34b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b841b40af84c53" /><Relationship Type="http://schemas.openxmlformats.org/officeDocument/2006/relationships/notesMaster" Target="/ppt/notesMasters/notesMaster1.xml" Id="Rdb4c9b2d84cb47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a2f74e52014fd5" /><Relationship Type="http://schemas.openxmlformats.org/officeDocument/2006/relationships/notesMaster" Target="/ppt/notesMasters/notesMaster1.xml" Id="Rd18d18379b6048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b718ebe9f043c6" /><Relationship Type="http://schemas.openxmlformats.org/officeDocument/2006/relationships/notesMaster" Target="/ppt/notesMasters/notesMaster1.xml" Id="Re7c3966720c24b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b1678892504e51" /><Relationship Type="http://schemas.openxmlformats.org/officeDocument/2006/relationships/notesMaster" Target="/ppt/notesMasters/notesMaster1.xml" Id="Rc1e1bbeb2f3e41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53c985f4974a09" /><Relationship Type="http://schemas.openxmlformats.org/officeDocument/2006/relationships/notesMaster" Target="/ppt/notesMasters/notesMaster1.xml" Id="Rd04a9d1edd704f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c0ee1480d6477d" /><Relationship Type="http://schemas.openxmlformats.org/officeDocument/2006/relationships/notesMaster" Target="/ppt/notesMasters/notesMaster1.xml" Id="R9467ecc200524c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a835ab8f974147" /><Relationship Type="http://schemas.openxmlformats.org/officeDocument/2006/relationships/notesMaster" Target="/ppt/notesMasters/notesMaster1.xml" Id="R23acb8d34b4d47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3c5866f0654a6f" /><Relationship Type="http://schemas.openxmlformats.org/officeDocument/2006/relationships/notesMaster" Target="/ppt/notesMasters/notesMaster1.xml" Id="R98f21dac3cc948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4a6ed0a6a64866" /><Relationship Type="http://schemas.openxmlformats.org/officeDocument/2006/relationships/notesMaster" Target="/ppt/notesMasters/notesMaster1.xml" Id="R0972531b23aa4a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3c1274134a45ce" /><Relationship Type="http://schemas.openxmlformats.org/officeDocument/2006/relationships/notesMaster" Target="/ppt/notesMasters/notesMaster1.xml" Id="R0f6fab4c63104b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b87c848d944fbc" /><Relationship Type="http://schemas.openxmlformats.org/officeDocument/2006/relationships/notesMaster" Target="/ppt/notesMasters/notesMaster1.xml" Id="Rd9d779a5313b4c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3e512bd98c4977" /><Relationship Type="http://schemas.openxmlformats.org/officeDocument/2006/relationships/notesMaster" Target="/ppt/notesMasters/notesMaster1.xml" Id="R7f49b07a0b7b4f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nhu cầu tra cứu và chăm hoa bằng tiếng Việt.</a:t>
            </a:r>
          </a:p>
          <a:p xmlns:a="http://schemas.openxmlformats.org/drawingml/2006/main">
            <a:r>
              <a:t>Mục tiêu là cho thấy một website hoàn chỉnh: danh mục, AI, tài khoản và dữ liệu.</a:t>
            </a:r>
          </a:p>
          <a:p xmlns:a="http://schemas.openxmlformats.org/drawingml/2006/main">
            <a:r>
              <a:t>Thời lượng dự kiến: 35 giây.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rõ người dùng: người yêu hoa, người trồng tại nhà và người học lập trình.</a:t>
            </a:r>
          </a:p>
          <a:p xmlns:a="http://schemas.openxmlformats.org/drawingml/2006/main">
            <a:r>
              <a:t>Nhấn mạnh hệ thống hướng tới tra cứu/giáo dục; không dùng nội dung hoa làm tư vấn y tế hay độc tính.</a:t>
            </a:r>
          </a:p>
          <a:p xmlns:a="http://schemas.openxmlformats.org/drawingml/2006/main">
            <a:r>
              <a:t>Thời lượng: 45 giây.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qua bốn luồng được gọi là AI trong đề tài.</a:t>
            </a:r>
          </a:p>
          <a:p xmlns:a="http://schemas.openxmlformats.org/drawingml/2006/main">
            <a:r>
              <a:t>Tách riêng tính năng gợi ý bó hoa theo quy tắc để không phóng đại phạm vi AI.</a:t>
            </a:r>
          </a:p>
          <a:p xmlns:a="http://schemas.openxmlformats.org/drawingml/2006/main">
            <a:r>
              <a:t>Thời lượng: 50 giây.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Vercel rewrites auth/account to the Express gateway; production gateway falls back to the account API on FastAPI Render.</a:t>
            </a:r>
          </a:p>
          <a:p xmlns:a="http://schemas.openxmlformats.org/drawingml/2006/main">
            <a:r>
              <a:t>The Render FastAPI service uses Neon PostgreSQL for users, sessions and personal data. AI REST/SSE routes also run on FastAPI.</a:t>
            </a:r>
          </a:p>
          <a:p xmlns:a="http://schemas.openxmlformats.org/drawingml/2006/main">
            <a:r>
              <a:t>The Express gateway has an optional direct PostgreSQL adapter, but a Vercel DATABASE_URL path has not been verified in production.</a:t>
            </a:r>
          </a:p>
          <a:p xmlns:a="http://schemas.openxmlformats.org/drawingml/2006/main">
            <a:r>
              <a:t>Timing: 60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Mô tả bảng dữ liệu chính: users, sessions và user_data.</a:t>
            </a:r>
          </a:p>
          <a:p xmlns:a="http://schemas.openxmlformats.org/drawingml/2006/main">
            <a:r>
              <a:t>Điểm thiết kế là xác thực server-side; frontend không tự quyết định quyền truy cập dữ liệu.</a:t>
            </a:r>
          </a:p>
          <a:p xmlns:a="http://schemas.openxmlformats.org/drawingml/2006/main">
            <a:r>
              <a:t>Thời lượng: 55 giây.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các phép đo từ bộ đánh giá của dự án, không lấy một ảnh demo làm độ chính xác tổng thể.</a:t>
            </a:r>
          </a:p>
          <a:p xmlns:a="http://schemas.openxmlformats.org/drawingml/2006/main">
            <a:r>
              <a:t>Classifier chưa có test set độc lập. Detector test split có 84 ảnh. Hit@3 chỉ đo nguồn có trong top 3.</a:t>
            </a:r>
          </a:p>
          <a:p xmlns:a="http://schemas.openxmlformats.org/drawingml/2006/main">
            <a:r>
              <a:t>Thời lượng: 70 giây.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Hai ảnh chụp màn hình là từ bản production và video demo đã ghi.</a:t>
            </a:r>
          </a:p>
          <a:p xmlns:a="http://schemas.openxmlformats.org/drawingml/2006/main">
            <a:r>
              <a:t>Nêu rõ đây là ví dụ, không phải benchmark: latency phụ thuộc cold start và model eviction trên free tier.</a:t>
            </a:r>
          </a:p>
          <a:p xmlns:a="http://schemas.openxmlformats.org/drawingml/2006/main">
            <a:r>
              <a:t>Thời lượng: 55 giây.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xem ví dụ trả lời có tên file nguồn.</a:t>
            </a:r>
          </a:p>
          <a:p xmlns:a="http://schemas.openxmlformats.org/drawingml/2006/main">
            <a:r>
              <a:t>Gemini Flash Free Tier đã trả HTTP 200 ở production; Render Logs có một lỗi 503 gần đây và chatbot fallback RAG.</a:t>
            </a:r>
          </a:p>
          <a:p xmlns:a="http://schemas.openxmlformats.org/drawingml/2006/main">
            <a:r>
              <a:t>Thời lượng: 55 giây.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giờ 10 phút bám theo bố cục thuyết trình trong rubric.</a:t>
            </a:r>
          </a:p>
          <a:p xmlns:a="http://schemas.openxmlformats.org/drawingml/2006/main">
            <a:r>
              <a:t>Demo trực tiếp 2 phút; chọn một luồng AI nhanh, rồi thử request garden khi logout để thấy 401.</a:t>
            </a:r>
          </a:p>
          <a:p xmlns:a="http://schemas.openxmlformats.org/drawingml/2006/main">
            <a:r>
              <a:t>Dùng video dự phòng 4 phút 31 giây nếu request bị cold start; video cho thấy đầy đủ bốn luồng.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Đọc 4 dòng code trong api/main.py: khóa tác vụ nặng, evict classifier/retrieval khi cần detector hoặc evict detector khi cần model chung.</a:t>
            </a:r>
          </a:p>
          <a:p xmlns:a="http://schemas.openxmlformats.org/drawingml/2006/main">
            <a:r>
              <a:t>Sau khi nhả model, API gọi gc.collect và malloc_trim nếu nền tảng hỗ trợ; đây là lý do các route vẫn có thể hoạt động trên RAM thấp.</a:t>
            </a:r>
          </a:p>
          <a:p xmlns:a="http://schemas.openxmlformats.org/drawingml/2006/main">
            <a:r>
              <a:t>Điểm đánh đổi là phải nạp lại model và request có thể mất vài chục giây trên cold start.</a:t>
            </a:r>
          </a:p>
          <a:p xmlns:a="http://schemas.openxmlformats.org/drawingml/2006/main">
            <a:r>
              <a:t>Thời lượng: 2 phút; một kỹ thuật triển khai và một hạn chế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Smoke production mới lúc 17:45 ngày 23/10 trên Render Live revision ec114f731cd1 qua Vercel same-origin: classify 200/28,94 giây; detect 200/32,92 giây/3 vùng; tìm ảnh 200/31,96 giây/5 hướng dương; tìm mô tả 200/0,25 giây/5 hướng dương; chat 200/5,82 giây/3 nguồn.</a:t>
            </a:r>
          </a:p>
          <a:p xmlns:a="http://schemas.openxmlformats.org/drawingml/2006/main">
            <a:r>
              <a:t>Render Logs lúc 17:45:30 ghi nhận lời gọi Gemini Flash nhận HTTP 200. API response không trả provider. Một request mỗi route, không phải benchmark. Google AI Studio được kiểm tra lúc 10:21 cùng ngày, Free tier và chưa cài billing; đây là trạng thái tại thời điểm kiểm tra.</a:t>
            </a:r>
          </a:p>
          <a:p xmlns:a="http://schemas.openxmlformats.org/drawingml/2006/main">
            <a:r>
              <a:t>CI code ec114f7: 107 backend passed, 1 PostgreSQL skipped khi thiếu DSN; 24 frontend passed. CI mới nhất cho docs main 202769e, run 39916363610: pytest, web-build-and-tests, security-audit đều xanh. Render Free có cold start; không bật billing.</a:t>
            </a:r>
          </a:p>
          <a:p xmlns:a="http://schemas.openxmlformats.org/drawingml/2006/main">
            <a:r>
              <a:t>Neon lưu dữ liệu tài khoản qua API Render. Express gateway trên Vercel dùng fallback Render nếu chưa có DATABASE_URL riêng ở Vercel.</a:t>
            </a:r>
          </a:p>
          <a:p xmlns:a="http://schemas.openxmlformats.org/drawingml/2006/main">
            <a:r>
              <a:t>Thời lượng: 60 giây.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hạn chế thật và không xem metric là cam kết ngoài miền dữ liệu.</a:t>
            </a:r>
          </a:p>
          <a:p xmlns:a="http://schemas.openxmlformats.org/drawingml/2006/main">
            <a:r>
              <a:t>Trước khi nộp, cả nhóm điền phần đóng góp có tổng 100%, chữ ký, người trình bày và luyện phần hỏi đáp.</a:t>
            </a:r>
          </a:p>
          <a:p xmlns:a="http://schemas.openxmlformats.org/drawingml/2006/main">
            <a:r>
              <a:t>Thời lượng: 45 giây; dành phần còn lại cho hỏi đáp.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28a14ecc040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64bb565b74f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bd58c82964d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645bb1d844e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be510301f4f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30842e55c4a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8BDA5B-B0EA-4017-9FB0-F6CE1D960D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D6B0F6-B313-4D7B-A4FA-A5B59D4B59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0968BB-9674-4BA9-9E37-335674F10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91EADF-7D5C-4FCD-9015-6DE63A0CCA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47EC48-5E58-445C-AC6F-EB92EDE2F0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BD931E-8516-421B-9030-83E3E25721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431C1E-D1CC-4CE4-BF11-3B3D60E89A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0F476D-8385-48D1-B94E-1D5EDC6C2A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FC71F4-9904-407A-9E78-F794E8039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F07499-3B8A-4802-AE02-DC55D7CA74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10b997bb40499e" /><Relationship Type="http://schemas.openxmlformats.org/officeDocument/2006/relationships/slideLayout" Target="/ppt/slideLayouts/slideLayout1.xml" Id="R9a45c9bea82146a2" /><Relationship Type="http://schemas.openxmlformats.org/officeDocument/2006/relationships/slideLayout" Target="/ppt/slideLayouts/slideLayout2.xml" Id="Rca28e705afb540ee" /><Relationship Type="http://schemas.openxmlformats.org/officeDocument/2006/relationships/slideLayout" Target="/ppt/slideLayouts/slideLayout3.xml" Id="Rbf52c74898874a10" /><Relationship Type="http://schemas.openxmlformats.org/officeDocument/2006/relationships/slideLayout" Target="/ppt/slideLayouts/slideLayout4.xml" Id="R64d90c6f28db49c8" /><Relationship Type="http://schemas.openxmlformats.org/officeDocument/2006/relationships/slideLayout" Target="/ppt/slideLayouts/slideLayout5.xml" Id="R52e2b8dc95034e34" /><Relationship Type="http://schemas.openxmlformats.org/officeDocument/2006/relationships/slideLayout" Target="/ppt/slideLayouts/slideLayout6.xml" Id="R36c4a02127bc4d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45c9bea82146a2"/>
    <p:sldLayoutId xmlns:r="http://schemas.openxmlformats.org/officeDocument/2006/relationships" id="2147483650" r:id="Rca28e705afb540ee"/>
    <p:sldLayoutId xmlns:r="http://schemas.openxmlformats.org/officeDocument/2006/relationships" id="2147483651" r:id="Rbf52c74898874a10"/>
    <p:sldLayoutId xmlns:r="http://schemas.openxmlformats.org/officeDocument/2006/relationships" id="2147483652" r:id="R64d90c6f28db49c8"/>
    <p:sldLayoutId xmlns:r="http://schemas.openxmlformats.org/officeDocument/2006/relationships" id="2147483653" r:id="R52e2b8dc95034e34"/>
    <p:sldLayoutId xmlns:r="http://schemas.openxmlformats.org/officeDocument/2006/relationships" id="2147483654" r:id="R36c4a02127bc4d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07451661b4bcd" /><Relationship Type="http://schemas.openxmlformats.org/officeDocument/2006/relationships/image" Target="/ppt/media/image.png" Id="Redb36c3d3b4540d1" /><Relationship Type="http://schemas.openxmlformats.org/officeDocument/2006/relationships/notesSlide" Target="/ppt/notesSlides/notesSlide1.xml" Id="R2d5134b90c1749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befb7d79a40a2" /><Relationship Type="http://schemas.openxmlformats.org/officeDocument/2006/relationships/notesSlide" Target="/ppt/notesSlides/notesSlide2.xml" Id="R81406f6d333649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e1342b342a408d" /><Relationship Type="http://schemas.openxmlformats.org/officeDocument/2006/relationships/notesSlide" Target="/ppt/notesSlides/notesSlide3.xml" Id="Rce30783873e74c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0730e9468b438e" /><Relationship Type="http://schemas.openxmlformats.org/officeDocument/2006/relationships/notesSlide" Target="/ppt/notesSlides/notesSlide4.xml" Id="Rbf5b334d1f5f49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86a59588549a8" /><Relationship Type="http://schemas.openxmlformats.org/officeDocument/2006/relationships/notesSlide" Target="/ppt/notesSlides/notesSlide5.xml" Id="Rdde02ba9d5c04c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477bbb4c3455f" /><Relationship Type="http://schemas.openxmlformats.org/officeDocument/2006/relationships/notesSlide" Target="/ppt/notesSlides/notesSlide6.xml" Id="R1a975c2d1ce14e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0b3c7df124c8a" /><Relationship Type="http://schemas.openxmlformats.org/officeDocument/2006/relationships/image" Target="/ppt/media/image2.png" Id="R20dc7a85e2eb4124" /><Relationship Type="http://schemas.openxmlformats.org/officeDocument/2006/relationships/image" Target="/ppt/media/image3.png" Id="R2f96f9e1d3b740ac" /><Relationship Type="http://schemas.openxmlformats.org/officeDocument/2006/relationships/notesSlide" Target="/ppt/notesSlides/notesSlide7.xml" Id="R85a897959d0e4e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53d6ed4aa4384" /><Relationship Type="http://schemas.openxmlformats.org/officeDocument/2006/relationships/image" Target="/ppt/media/image4.png" Id="Racad02a324234467" /><Relationship Type="http://schemas.openxmlformats.org/officeDocument/2006/relationships/notesSlide" Target="/ppt/notesSlides/notesSlide8.xml" Id="R2bfeb0c057df43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8d7a8011724547" /><Relationship Type="http://schemas.openxmlformats.org/officeDocument/2006/relationships/notesSlide" Target="/ppt/notesSlides/notesSlide9.xml" Id="R6fe4083de4e74b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f109604de4d66" /><Relationship Type="http://schemas.openxmlformats.org/officeDocument/2006/relationships/notesSlide" Target="/ppt/notesSlides/notesSlide10.xml" Id="R9c43ef4aae2344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9451dc4bbb43ae" /><Relationship Type="http://schemas.openxmlformats.org/officeDocument/2006/relationships/notesSlide" Target="/ppt/notesSlides/notesSlide11.xml" Id="Rcb10d6a26bf547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fa567391d4720" /><Relationship Type="http://schemas.openxmlformats.org/officeDocument/2006/relationships/notesSlide" Target="/ppt/notesSlides/notesSlide12.xml" Id="R29aa260ddd1c4d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6247E-407A-4448-9DBD-D51BBDF4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8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EACF9-B9D2-49DD-B6E7-2EEADD0A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ĐỒ ÁN  ·  NHÓM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A4EBA-6198-4E54-BF0F-DE384A5E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Vườn Hoa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A8BBC-3AFD-4DBF-9A55-D0BC9488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Tra cứu 103 loài hoa, nhận diện ảnh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và hỏi đáp từ cẩm nang tiếng Việt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233AE-06CB-4E5F-9B27-3C297925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19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6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7BA15-AB0E-46F2-8390-3035D16A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React  ·  FastAPI  ·  Neon PostgreSQL  · 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437C8-05E1-412E-8B5B-F9DD91EB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8076"/>
                </a:solidFill>
                <a:latin typeface="Arial"/>
                <a:ea typeface="Arial"/>
                <a:cs typeface="Arial"/>
              </a:rPr>
              <a:t>Nhóm 10 · cần xác nhận tên và phân công thật trước khi nộp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80E47-5A5A-4B23-B943-8F656E1CE1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36c3d3b4540d1"/>
          <a:srcRect xmlns:a="http://schemas.openxmlformats.org/drawingml/2006/main" l="8079" t="0" r="80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066800"/>
            <a:ext cx="523875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E3C06-93DB-49BC-A2CF-1FD44FC4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5302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Bản đang chạy: Vercel + Render</a:t>
            </a:r>
          </a:p>
        </p:txBody>
      </p:sp>
    </p:spTree>
    <p:extLst>
      <p:ext uri="{BB962C8B-B14F-4D97-AF65-F5344CB8AC3E}">
        <p14:creationId xmlns:p14="http://schemas.microsoft.com/office/powerpoint/2010/main" val="2054347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15231-480F-4801-BD84-5F1C55B0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8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0F944-9621-4FE3-A204-AF6E3B8B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01 · NHU CẦU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BE38B-9E0D-40CB-809A-9A3E81F1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Bài toán và người dùng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D33A0-EF65-4211-94D2-66954584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6A4AC-8565-4348-89E6-87FB392D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VƯỜN HOA AI  ·  ĐỒ ÁN LẬP TRÌNH WEB NÂNG CAO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99BF2-7108-4D08-9363-A6C936FA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47BCD-CE16-4327-932E-E445078B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5715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F32"/>
                </a:solidFill>
                <a:latin typeface="Arial"/>
                <a:ea typeface="Arial"/>
                <a:cs typeface="Arial"/>
              </a:rPr>
              <a:t>Người mới tìm hiểu hoa thường phải ghép thông tin từ nhiều nguồn: tên, ảnh, mùa nở, cách chăm và ý nghĩa.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7D7A0-6765-4F36-9C96-0A50C898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Vườn Hoa AI đưa các bước đó về một nơi, với giao diện và nội dung tiếng Việt.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104DE-FF8A-43B0-B2C9-0845C332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40005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5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2C250-A429-4E1A-A739-9D9D36C7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04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4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4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4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4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4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4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4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4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4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4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4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103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74380-569B-495D-B755-62D327F6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90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160"/>
          </a:bodyPr>
          <a:lstStyle xmlns:a="http://schemas.openxmlformats.org/drawingml/2006/main">
            <a:defPPr algn="l"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loài hoa trong bộ dữ liệu tra cứu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58ECA-F83F-46B9-99E1-90D621DB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6712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6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4E8D2-B042-4014-B5AF-86EE9E55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4335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31"/>
          </a:bodyPr>
          <a:lstStyle xmlns:a="http://schemas.openxmlformats.org/drawingml/2006/main">
            <a:defPPr algn="l"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Người yêu hoa · người trồng tại nhà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Sinh viên cần một ví dụ React + API +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4E439-996C-4BB4-B38C-FBB12785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18076"/>
                </a:solidFill>
                <a:latin typeface="Arial"/>
                <a:ea typeface="Arial"/>
                <a:cs typeface="Arial"/>
              </a:rPr>
              <a:t>Sổ hoa và Cây của tôi đồng bộ khi đăng nhập; các luồng tra cứu chính vẫn dùng được khi chưa có tài khoản.</a:t>
            </a:r>
          </a:p>
        </p:txBody>
      </p:sp>
    </p:spTree>
    <p:extLst>
      <p:ext uri="{BB962C8B-B14F-4D97-AF65-F5344CB8AC3E}">
        <p14:creationId xmlns:p14="http://schemas.microsoft.com/office/powerpoint/2010/main" val="808781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7ABE5A-3603-4EB3-8913-5EE2807B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8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98F02-0136-48C7-B81A-CD9E42B9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02 · CHỨC NĂNG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09977-14F3-49F8-9492-8CE78FAA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Bốn luồng AI trong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BF425-1A91-4958-B878-4AAA7DBE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20295-83C8-4856-B857-D3AC4BC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VƯỜN HOA AI  ·  ĐỒ ÁN LẬP TRÌNH WEB NÂNG CAO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86F71-7032-47A5-BDDD-382A79AA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D0C6C-AEF1-429D-B72A-9C5A5991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DBDE8-EC81-4210-B503-1056D88F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Phân loại ảnh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293B0-DD1B-4A2F-A650-6CF73D54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383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ResNet-18 chọn nhãn phù hợp trong 103 loài; hiển thị top-5 và mức tin cậy.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114D5-03D0-4A9B-9CA1-6C01AAB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4A577-F534-49B6-AE31-08230A69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665B1-64E5-4A2C-BF60-F16AFDF0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Khoanh vùng hoa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142E2-B365-4063-A217-0EB17381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YOLO11n tìm vị trí và nhãn cho Daisy, dandelion, rose, sunflower.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E8BA1-A0D4-4A46-ABDC-5F774C80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74945-600D-4FDB-835B-577612C8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A2BF0-5B1B-44B3-BCF4-F5ABBFAC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Tìm ảnh tương tự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B3DA7-DCC9-4680-A5A4-8D08AC47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052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ResNet-18 tạo đặc trưng ảnh; lọc theo lớp dự đoán tin cậy trên thư viện.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A3E0E-FE88-4E33-BB07-967F2CE1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2DB38-F95E-493D-8574-3B319575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BEAF0A-5FFA-4D9B-824A-540AABCB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Hỏi đáp có nguồn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3CC83-BE88-49A1-B5BB-90827C29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3865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BM25 truy xuất cẩm nang; câu trả lời kèm các đoạn nguồn liên quan.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241DC-67F2-4B8A-BBFC-2C4749FB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6C4E6-4CB7-4DD3-A1CF-5289280A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8076"/>
                </a:solidFill>
                <a:latin typeface="Arial"/>
                <a:ea typeface="Arial"/>
                <a:cs typeface="Arial"/>
              </a:rPr>
              <a:t>Gợi ý bó hoa dùng luật + dữ liệu; chatbot dùng RAG, có thể gọi Gemini Free Tier và tự fallback khi dịch vụ lỗi.</a:t>
            </a:r>
          </a:p>
        </p:txBody>
      </p:sp>
    </p:spTree>
    <p:extLst>
      <p:ext uri="{BB962C8B-B14F-4D97-AF65-F5344CB8AC3E}">
        <p14:creationId xmlns:p14="http://schemas.microsoft.com/office/powerpoint/2010/main" val="734606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B16647-B3C6-4CF4-9B62-95AB6A37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8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168D4-D9BB-44A7-8E76-FE874692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03 · THIẾT KẾ HỆ THỐNG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32276-E4D3-40E0-851D-8367DCAB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Kiến trúc triển khai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97DD4-BF1F-4F93-85E1-974FBEA2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371E3-B0B3-45F1-BFA3-5DFEEDC1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VƯỜN HOA AI  ·  ĐỒ ÁN LẬP TRÌNH WEB NÂNG CAO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F8A0C-9F8B-469A-82AD-BADC6B5E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ABBB8-DD81-44BA-9F64-42BDC182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E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3FD0E-CCBF-416B-8682-E67D7E68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Trình duyệt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FF82E-6C06-42D2-AEBF-FD440334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React + Vite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UI, upload, tài khoản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6D82C-EA57-4200-9385-166DCD75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2857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705F8-5085-48D6-B643-351A35C4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0025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Express 5 + 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19925-C31D-4D06-AE3C-AE9C4203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955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>
            <a:defPPr algn="l">
              <a:defRPr sz="17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Auth + account: Express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Express → FastAPI → Neon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AI REST/SSE: FastAPI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96BE5-ADC3-4DB0-A8E8-45FEAAD2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14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E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1FF7D-874F-4171-8F4E-AFD38DF2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0250"/>
            <a:ext cx="2295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Neon 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9BC98-2E96-41B2-B1E8-4B18C45B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95550"/>
            <a:ext cx="2295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users · sessions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user_data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FA6CD-CF59-44F7-BB8E-34D4966A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66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Vercel rewrites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A13A8-02D5-4532-96B1-CE7A41AE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FC80C-BF79-4514-BA92-61F424AF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145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6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C81EB-58DC-41E8-8656-224A4B02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6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47429-D97F-4756-9A8B-245D0EC3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Tác vụ AI trên 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58072D-078A-4254-8914-B12DBE73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EDF5A-B36D-48A0-8868-4EB8F6F1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52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E3C9F1-5E47-43B7-B220-2ACD76E0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7148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8076"/>
                </a:solidFill>
                <a:latin typeface="Arial"/>
                <a:ea typeface="Arial"/>
                <a:cs typeface="Arial"/>
              </a:rPr>
              <a:t>103 nhãn + ảnh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2DE30A-C82A-4C7F-9830-E247B60C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00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5A45DA-908E-482A-BE55-A312F4C3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352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YOLO11n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4EA3FF-0C08-480A-B971-9020241A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7148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8076"/>
                </a:solidFill>
                <a:latin typeface="Arial"/>
                <a:ea typeface="Arial"/>
                <a:cs typeface="Arial"/>
              </a:rPr>
              <a:t>4 lớp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44B816-A88A-4918-9C82-9A3EE0AE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675BFD-422D-4F89-B28B-C143BEBC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52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ResNet features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A97CE8-7883-4984-94E1-8D0CEDA0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148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8076"/>
                </a:solidFill>
                <a:latin typeface="Arial"/>
                <a:ea typeface="Arial"/>
                <a:cs typeface="Arial"/>
              </a:rPr>
              <a:t>tìm ảnh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20D547-BEA8-4496-B840-AAC85F31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00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B90A11-D451-4A31-8E83-12F5FDB7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352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BM25 + Gemini Free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2E35CA-79D7-4DF4-AD15-CC83B99E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148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8076"/>
                </a:solidFill>
                <a:latin typeface="Arial"/>
                <a:ea typeface="Arial"/>
                <a:cs typeface="Arial"/>
              </a:rPr>
              <a:t>RAG + trích nguồn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13A31F-8BE3-4750-B5DE-72A04C61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Frontend: Vercel  ·  Backend: Docker trên Render (Singapore)  ·  CSDL production: Neon</a:t>
            </a:r>
          </a:p>
        </p:txBody>
      </p:sp>
    </p:spTree>
    <p:extLst>
      <p:ext uri="{BB962C8B-B14F-4D97-AF65-F5344CB8AC3E}">
        <p14:creationId xmlns:p14="http://schemas.microsoft.com/office/powerpoint/2010/main" val="1190264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C116EA-BF6D-4A17-A22C-9A7D4882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8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5F80D-9B07-4DC8-AB82-779DFEE7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04 · LUỒNG DỮ LIỆU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623BF-C7D1-47F3-A832-B673ABFB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API và dữ liệu tài khoản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889B8-85C4-4847-9EAD-1D689501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7C006-01FB-40F2-81A3-77A9EEC2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VƯỜN HOA AI  ·  ĐỒ ÁN LẬP TRÌNH WEB NÂNG CAO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5483B-3BB3-4073-8DC8-39F90ABF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21D2E-7D28-4EC2-B2A1-2D5FA79C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Đăng nhập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81636-23E6-497B-93F5-750FEEDD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4A55D-C264-42BC-A23F-309C1947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POST /api/auth/login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95AA4-2F59-4EF3-8ED1-4A2EA2ED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Kiểm tra thông tin và băm mật khẩu bằng scrypt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E878D-FD81-4D27-971D-3E6AF0EF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6C031-9160-4EF9-8248-DC7B8F7F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64E00-E098-45DF-B82D-66831E56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08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Cookie phiên HttpOnly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90DA9-181E-40A2-8333-F16623C1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908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SameSite=Lax; trình duyệt gửi kèm request cùng origin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978B02-DE5B-41D9-85E6-4224681C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93BD4-797E-4ED6-BA84-B787AD0D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B9DB3-E02F-47B2-A7C6-0FCE76F4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GET /api/account/data/*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A8423-AD7F-4D5C-AA42-37C5ED44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API xác thực người dùng trước khi đọc/ghi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67066-EAAD-40AD-858A-2C949078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D99DD-26D7-4414-8442-AB3EC8C5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CC30AD-D4B1-40A0-9094-48EE86DB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Neon PostgreSQL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5BA33-28D5-4082-8DE3-B633FDD9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012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Garden và giftbook gắn với tài khoản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CF714-015E-40A0-AA26-D2165FC9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0965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3E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74EC87-47B6-4232-A8AE-49775808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4835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Smoke Vercel same-origin: login → /auth/me + garden/giftbook 200; logout 200; anonymous garden 401.</a:t>
            </a:r>
          </a:p>
        </p:txBody>
      </p:sp>
    </p:spTree>
    <p:extLst>
      <p:ext uri="{BB962C8B-B14F-4D97-AF65-F5344CB8AC3E}">
        <p14:creationId xmlns:p14="http://schemas.microsoft.com/office/powerpoint/2010/main" val="1822339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585890-E156-4401-BF72-0A80978E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8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7C3BB-5D51-4140-876D-F1F20FCC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05 · KẾT QUẢ ĐỊNH LƯỢNG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35B2B-7452-4662-9D25-EC13A433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Đánh giá mô hình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79B3A-61D8-4EFA-9210-5E5DFC5C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71B5F-B21D-4D78-A46B-3FCF3D99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VƯỜN HOA AI  ·  ĐỒ ÁN LẬP TRÌNH WEB NÂNG CAO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931C5-9D81-4A7C-9846-38ABC7F2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13B94-1BD6-4A95-96B0-18D533BD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FA09A-4509-4E46-8FAE-832F98C1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764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AC63C-E71C-4371-AA56-38A53B62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CHỈ SỐ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63837-6512-4010-A1FE-4074D2C9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042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31889-BA8F-405E-9B81-CA9C2A2A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1F25F-E640-4D6E-8484-6004CD90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431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103 lớp · 11.859 ảnh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F2AF5-BDBF-460F-9863-62D42445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Accuracy 90,26%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844D2-0BAE-4000-8EFF-BC4C0111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Macro-F1 91,56%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5DC0C-57E6-4ADA-9411-FE1E564B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CE983-C294-4C51-8F47-6EC879FA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YOLO11n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E2991-8901-4CE2-950D-F6D4CDF1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718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4 lớp · test 84 ảnh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126A5-C20C-4697-9B83-3955398D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mAP50 0,8704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C964F-E0CF-4D55-A64F-799466DE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mAP50–95 0,6802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A5196-E209-4DC3-9617-59C448DF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D7735-83C0-412C-99D9-D5950195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ResNet features + lọc lớp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23B36E-77D3-4D11-A6C3-FB75E1F0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004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1.236 ảnh · 206 query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E28C1-A5D2-468A-B225-A289ED6D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004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Precision@5 0,9165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DCF3E-D6B1-400A-B3C8-C54CD6F3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004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held-out theo đường dẫn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9156C8-8A5B-4388-814A-2840EC84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BBA9FD-ADC6-413F-A4A2-6FD9D287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BM25 retrieval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5DEA6D-2F50-4D38-B21F-C559BB70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291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11 nguồn · 31 câu hỏi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D9DD30-7725-486D-B6D6-F8482814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Hit@3 31/31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3EA554-8F08-4744-BCBB-CDB9C512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29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đo truy xuất nguồn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370711-C41D-46B8-9945-3069BB39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01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4F2D8E-036B-4A3F-B417-B8C6C03C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8076"/>
                </a:solidFill>
                <a:latin typeface="Arial"/>
                <a:ea typeface="Arial"/>
                <a:cs typeface="Arial"/>
              </a:rPr>
              <a:t>Giới hạn: cùng nguồn ảnh với quá trình phát triển; classifier validation dùng chọn checkpoint; Hit@3 đo nguồn, không chấm câu trả lời.</a:t>
            </a:r>
          </a:p>
        </p:txBody>
      </p:sp>
    </p:spTree>
    <p:extLst>
      <p:ext uri="{BB962C8B-B14F-4D97-AF65-F5344CB8AC3E}">
        <p14:creationId xmlns:p14="http://schemas.microsoft.com/office/powerpoint/2010/main" val="2035656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005A7-B1CB-4E42-8962-46E38ADB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8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B784A-9F15-4125-B8DF-0897FB53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06 · DEMO ĐÃ KIỂM 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9CD89-FEBC-4167-8B40-D3352559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AI chạy trên bản production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8B1B2-764E-493F-ADBE-21BD34F1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8C8EA-7AC7-459C-AF90-0DE0748D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VƯỜN HOA AI  ·  ĐỒ ÁN LẬP TRÌNH WEB NÂNG CAO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06CF3-0FB7-4028-A896-78EC416C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35EF6-B8C7-4CBB-9375-1E5A1832A2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c7a85e2eb4124"/>
          <a:srcRect xmlns:a="http://schemas.openxmlformats.org/drawingml/2006/main" l="52" t="0" r="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1562100"/>
            <a:ext cx="5238750" cy="2952750"/>
          </a:xfrm>
          <a:prstGeom xmlns:a="http://schemas.openxmlformats.org/drawingml/2006/main" prst="roundRect">
            <a:avLst>
              <a:gd name="adj" fmla="val 5161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5D223-754C-42F8-9392-9719FDA6D6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6f9e1d3b740ac"/>
          <a:srcRect xmlns:a="http://schemas.openxmlformats.org/drawingml/2006/main" l="52" t="0" r="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562100"/>
            <a:ext cx="5238750" cy="2952750"/>
          </a:xfrm>
          <a:prstGeom xmlns:a="http://schemas.openxmlformats.org/drawingml/2006/main" prst="roundRect">
            <a:avLst>
              <a:gd name="adj" fmla="val 516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EC2D6-F988-4AE4-89E6-4522B40A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PHÂN LOẠI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FF342-7C8D-416F-90C6-B40CE1EF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Smoke test 23/10: classify top-1 sunflowers trong </a:t>
            </a: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28,94 giây</a:t>
            </a: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. Một ảnh không đại diện accuracy tổng thể.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70916-B46F-4DB4-A985-2632D750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B648"/>
                </a:solidFill>
                <a:latin typeface="Arial"/>
                <a:ea typeface="Arial"/>
                <a:cs typeface="Arial"/>
              </a:rPr>
              <a:t>KHOANH VÙNG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EF934-F2E6-44A5-AD3A-371DADD9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1015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Mẫu hướng dương production trả 3 vùng phát hiện trong </a:t>
            </a: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32,92 giây</a:t>
            </a: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; latency thay đổi theo cold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3714A-1F59-4EF8-BBB1-77595E5A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18076"/>
                </a:solidFill>
                <a:latin typeface="Arial"/>
                <a:ea typeface="Arial"/>
                <a:cs typeface="Arial"/>
              </a:rPr>
              <a:t>Ảnh giao diện từ video demo; số liệu API mới đo qua Vercel cùng origin ngày 23/10/2026.</a:t>
            </a:r>
          </a:p>
        </p:txBody>
      </p:sp>
    </p:spTree>
    <p:extLst>
      <p:ext uri="{BB962C8B-B14F-4D97-AF65-F5344CB8AC3E}">
        <p14:creationId xmlns:p14="http://schemas.microsoft.com/office/powerpoint/2010/main" val="21261140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DD672-4BEE-4573-8D77-5A7DE980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8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85E94-B39E-4D83-8C40-85BD9E66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07 · TRUY XUẤT TRI THỨC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6102E-8CD0-472D-8011-9FC3C67B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Tìm kiếm và hỏi đáp có nguồn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77754-376E-4B48-8950-7667333F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D1B7E-7FCC-4BE3-91DE-BB978FA3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VƯỜN HOA AI  ·  ĐỒ ÁN LẬP TRÌNH WEB NÂNG CAO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A1D66-119C-42F8-99DB-A734962C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38A9D-9E8E-4551-A668-513B02A467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d02a324234467"/>
          <a:srcRect xmlns:a="http://schemas.openxmlformats.org/drawingml/2006/main" l="127" t="0" r="1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619250"/>
            <a:ext cx="5095875" cy="2876550"/>
          </a:xfrm>
          <a:prstGeom xmlns:a="http://schemas.openxmlformats.org/drawingml/2006/main" prst="roundRect">
            <a:avLst>
              <a:gd name="adj" fmla="val 529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3EA09-7A24-4C6C-9D68-43B9FF2E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Tìm bằng mô tả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C52E4-F660-4584-8E25-438909AB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457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Production dùng đặc trưng ResNet-18, lọc theo lớp dự đoán tin cậy rồi xếp hạng ảnh tương tự.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3CF09-0210-4B46-B857-3AD2414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Hỏi đáp 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73A30-D9DA-42C9-B43F-87E24A11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457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BM25 chọn đoạn cẩm nang liên quan; câu trả lời trả kèm nguồn để người dùng kiểm tra.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D52C2-E39E-471B-BE32-90B07DC7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8076"/>
                </a:solidFill>
                <a:latin typeface="Arial"/>
                <a:ea typeface="Arial"/>
                <a:cs typeface="Arial"/>
              </a:rPr>
              <a:t>Production smoke: ảnh và mô tả tiếng Việt đều trả 5/5 hướng dương. Benchmark held-out P@5 = 91,65%; chưa phải test ảnh ngoài nguồn dữ liệu.</a:t>
            </a:r>
          </a:p>
        </p:txBody>
      </p:sp>
    </p:spTree>
    <p:extLst>
      <p:ext uri="{BB962C8B-B14F-4D97-AF65-F5344CB8AC3E}">
        <p14:creationId xmlns:p14="http://schemas.microsoft.com/office/powerpoint/2010/main" val="2023587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EE91CF-CFBB-40EA-9368-490F600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8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A4E95-F55F-490A-A25D-192F1594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08 · TRÌNH BÀY 10 PHÚT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C0555-5B4B-475D-AF9B-54B532AC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Kịch bản demo trực tiếp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32780-1DDA-4850-B175-2DC063FE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A3BF8-0D86-48DA-804D-4F2A4D39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VƯỜN HOA AI  ·  ĐỒ ÁN LẬP TRÌNH WEB NÂNG CAO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622DA-1131-4CBD-8237-433809C4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13E05-9DA3-4903-8671-4DE66E01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B648"/>
                </a:solidFill>
                <a:latin typeface="Arial"/>
                <a:ea typeface="Arial"/>
                <a:cs typeface="Arial"/>
              </a:rPr>
              <a:t>00:00–01:00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C1644-7781-4BC5-A151-C30BC45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71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Bài toán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9D7A1-AA53-4F04-9323-345F6F92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716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Người dùng mục tiêu và nhu cầu tra cứu hoa.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A3CE3-85D6-4658-B7A6-B1CCCD2F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478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60940-99EB-4DEC-87CF-6D2DE963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B648"/>
                </a:solidFill>
                <a:latin typeface="Arial"/>
                <a:ea typeface="Arial"/>
                <a:cs typeface="Arial"/>
              </a:rPr>
              <a:t>01:00–03:00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C31D4-5F4B-436C-8287-0EB32E5C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19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Kiến trúc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077B7-9497-45C7-94D1-F5F38647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193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React/Vercel → Express gateway → FastAPI/Neon; bốn luồng AI.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F59C5-3136-495F-AA03-9730BA9F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955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F3A43-C5D0-4FD5-B45B-198A71F5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B648"/>
                </a:solidFill>
                <a:latin typeface="Arial"/>
                <a:ea typeface="Arial"/>
                <a:cs typeface="Arial"/>
              </a:rPr>
              <a:t>03:00–05:00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FED1D-8408-42CC-A64C-C47DB9A0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670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Demo trực tiếp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3A2BC-0727-4692-8307-9C73D5EF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670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Nhận diện một ảnh; chatbot có nguồn; kiểm tra lỗi đăng xuất.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D4E1A-A409-463F-BBD9-97FBE2E4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432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573B2-7D13-4C78-8D55-54E3B162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B648"/>
                </a:solidFill>
                <a:latin typeface="Arial"/>
                <a:ea typeface="Arial"/>
                <a:cs typeface="Arial"/>
              </a:rPr>
              <a:t>05:00–07:00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5CD80-FBF6-4305-B225-C8A54F9A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147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Kỹ thuật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0BC32-7035-4371-86B1-AD3708FA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147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Cookie same-origin, nạp model theo nhu cầu và giới hạn RAM.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6D7B19-BB7A-4BF8-AE30-6524A3E4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909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69F5FA-AFB8-4B7C-BB18-36E3207C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B648"/>
                </a:solidFill>
                <a:latin typeface="Arial"/>
                <a:ea typeface="Arial"/>
                <a:cs typeface="Arial"/>
              </a:rPr>
              <a:t>07:00–09:00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779867-79D1-4AF1-9DDC-2FA1BCF8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624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Kiểm chứng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1A31B8-B041-45F6-9306-89002AB6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624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Test, bảo mật, metric AI và bản deploy.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2F9FA0-9AD4-41FD-875F-1DB53574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386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3FAEA0-FBC4-4EA3-BAA8-6676D093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B648"/>
                </a:solidFill>
                <a:latin typeface="Arial"/>
                <a:ea typeface="Arial"/>
                <a:cs typeface="Arial"/>
              </a:rPr>
              <a:t>09:00–10:00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70CBF-723B-48EC-9631-42B37795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10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Giới hạn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F1DEF6-2B84-4B54-8D8E-28E85672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101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Cold start, phạm vi dữ liệu và hướng phát triển.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A4600D-C737-401E-A02B-727459E1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09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8E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C9E916-68E4-4CC7-90BC-49791F22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05475"/>
            <a:ext cx="976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Lỗi có chủ đích: đọc dữ liệu cá nhân sau logout → 401. Video </a:t>
            </a:r>
            <a:r>
              <a:rPr sz="1275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4:31 phút</a:t>
            </a:r>
            <a:r>
              <a:rPr sz="1275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 dùng dự phòng khi Render cold start.</a:t>
            </a:r>
          </a:p>
        </p:txBody>
      </p:sp>
    </p:spTree>
    <p:extLst>
      <p:ext uri="{BB962C8B-B14F-4D97-AF65-F5344CB8AC3E}">
        <p14:creationId xmlns:p14="http://schemas.microsoft.com/office/powerpoint/2010/main" val="2868721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6AAAF-5055-4BB3-91FF-83E1B669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8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054C1-6BE1-44F7-B8F7-53F9FB4C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09 · KỸ THUẬT NỔI BẬT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B6B25-B385-40A0-B1E6-AA564AD4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Giữ các luồng AI trong giới hạn 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3C9B8-90ED-4B81-9461-8076C305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53CE0-C62C-4CF5-84C3-90E10ADF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VƯỜN HOA AI  ·  ĐỒ ÁN LẬP TRÌNH WEB NÂNG CAO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FEFE4-F8DC-4F17-B041-FB1A6F0A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804BF-FDFD-40D6-9CC7-DF5375A5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Render Free không đủ RAM để giữ mọi model nặng cùng lúc. API khóa tác vụ nặng, nhả model khác trước khi nạp model cần dùng.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8C18E-E315-4368-83C7-B6D50D79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03822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2E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5D80E-4EAB-4DF3-A605-C454BECD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9810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93F32"/>
                </a:solidFill>
                <a:latin typeface="Courier New"/>
                <a:ea typeface="Courier New"/>
                <a:cs typeface="Courier New"/>
              </a:defRPr>
            </a:defPPr>
            <a:lvl1pPr algn="l">
              <a:buNone/>
              <a:defRPr sz="1650" b="0">
                <a:solidFill>
                  <a:srgbClr val="193F32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buNone/>
              <a:defRPr sz="1650" b="0">
                <a:solidFill>
                  <a:srgbClr val="193F32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buNone/>
              <a:defRPr sz="1650" b="0">
                <a:solidFill>
                  <a:srgbClr val="193F32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buNone/>
              <a:defRPr sz="1650" b="0">
                <a:solidFill>
                  <a:srgbClr val="193F32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buNone/>
              <a:defRPr sz="1650" b="0">
                <a:solidFill>
                  <a:srgbClr val="193F32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buNone/>
              <a:defRPr sz="1650" b="0">
                <a:solidFill>
                  <a:srgbClr val="193F32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buNone/>
              <a:defRPr sz="1650" b="0">
                <a:solidFill>
                  <a:srgbClr val="193F32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buNone/>
              <a:defRPr sz="1650" b="0">
                <a:solidFill>
                  <a:srgbClr val="193F32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buNone/>
              <a:defRPr sz="1650" b="0">
                <a:solidFill>
                  <a:srgbClr val="193F3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93F32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93F32"/>
                </a:solidFill>
                <a:latin typeface="Courier New"/>
                <a:ea typeface="Courier New"/>
                <a:cs typeface="Courier New"/>
              </a:rPr>
              <a:t>def </a:t>
            </a:r>
            <a:r>
              <a:rPr sz="1800" b="0">
                <a:solidFill>
                  <a:srgbClr val="193F32"/>
                </a:solidFill>
                <a:latin typeface="Courier New"/>
                <a:ea typeface="Courier New"/>
                <a:cs typeface="Courier New"/>
              </a:rPr>
              <a:t>_run_heavy_model</a:t>
            </a:r>
            <a:r>
              <a:rPr sz="1800" b="0">
                <a:solidFill>
                  <a:srgbClr val="193F32"/>
                </a:solidFill>
                <a:latin typeface="Courier New"/>
                <a:ea typeface="Courier New"/>
                <a:cs typeface="Courier New"/>
              </a:rPr>
              <a:t>(name, operation):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93F32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93F32"/>
                </a:solidFill>
                <a:latin typeface="Courier New"/>
                <a:ea typeface="Courier New"/>
                <a:cs typeface="Courier New"/>
              </a:rPr>
              <a:t>    with HEAVY_MODEL_LOCK: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93F32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93F32"/>
                </a:solidFill>
                <a:latin typeface="Courier New"/>
                <a:ea typeface="Courier New"/>
                <a:cs typeface="Courier New"/>
              </a:rPr>
              <a:t>        _evict_for_render_free(name)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93F32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93F32"/>
                </a:solidFill>
                <a:latin typeface="Courier New"/>
                <a:ea typeface="Courier New"/>
                <a:cs typeface="Courier New"/>
              </a:rPr>
              <a:t>        return operation(_require(name))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B8675-2A22-4600-9A2B-44119A3C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>
            <a:defPPr algn="l">
              <a:defRPr sz="18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api/main.py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4D497-09AC-47CE-85A2-38AEDF4D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Kết quả: giảm cạnh tranh bộ nhớ, đổi lại request đầu có thể chậm do phải nạp lại model. Lock tuần tự hóa inference để tránh hai model nặng cùng chiếm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75A6A-9DC8-4CC6-BDBD-907452F4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Đây là đánh đổi dành cho gói miễn phí; không che giấu cold start và không hứa latency ổn định.</a:t>
            </a:r>
          </a:p>
        </p:txBody>
      </p:sp>
    </p:spTree>
    <p:extLst>
      <p:ext uri="{BB962C8B-B14F-4D97-AF65-F5344CB8AC3E}">
        <p14:creationId xmlns:p14="http://schemas.microsoft.com/office/powerpoint/2010/main" val="7482254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03CED-7E91-4900-A703-89AF207A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8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01BA6-9078-4336-91CD-3C564AF8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10 · CHẤT LƯỢNG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E347F-CBC3-491F-A170-C2888A80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Kiểm thử, bảo mật và deploy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F0E6E-8C3E-4A7B-A303-41057466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A803E-F412-4249-9187-F8D43506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VƯỜN HOA AI  ·  ĐỒ ÁN LẬP TRÌNH WEB NÂNG CAO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3517B-3D8E-4A79-8C10-DB62CC3D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AA30E-1E2D-4812-A169-060B8600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KIỂM THỬ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2F4D3-D693-409A-986A-E9C52461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Frontend: 24 test pass; production build thành công.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Backend: 107 passed, 1 skip; PostgreSQL integration chạy trong CI.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4F59A-156E-4EC0-9EB5-5438ACD3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17753-756C-4A9E-B571-8DF52974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BẢO MẬT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73260-83E4-4361-9650-F013149D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scrypt · session cookie HttpOnly/SameSite=Lax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Kiểm tra quyền server-side · giới hạn file/schema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Secret ở biến môi trường, không commit .env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94E9D-585F-4121-89EC-7E699C83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E7B64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B648"/>
                </a:solidFill>
                <a:latin typeface="Arial"/>
                <a:ea typeface="Arial"/>
                <a:cs typeface="Arial"/>
              </a:rPr>
              <a:t>PRODUCTION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80EDC-43FB-4EE1-90C0-F5E9918B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Vercel + API qua same-origin · HTTP 200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Health/startup 200 · PostgreSQL · 103 loài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Render live: ec114f731cd1 · gói Free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39C38-E3D0-4708-90BA-8738FBBF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8C309-DDA2-4910-9123-170EBA29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8272B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8272B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8272B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8272B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8272B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8272B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8272B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8272B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8272B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8272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8272B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272B6"/>
                </a:solidFill>
                <a:latin typeface="Arial"/>
                <a:ea typeface="Arial"/>
                <a:cs typeface="Arial"/>
              </a:rPr>
              <a:t>ĐIỂM CẦN TRÌNH BÀY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CE2A3-C94E-445E-A404-DFF4D13E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CI code ec114f7: 107 backend pass, 1 skip; 24 frontend pass. Main 202769e: 3 jobs xanh. AI live: 5 route 200; ảnh/mô tả 5/5 đúng nhóm; detect 3 vùng; chat 3 nguồn.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FB00D-F6FC-4D2C-90DD-3496C578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8076"/>
                </a:solidFill>
                <a:latin typeface="Arial"/>
                <a:ea typeface="Arial"/>
                <a:cs typeface="Arial"/>
              </a:rPr>
              <a:t>Gemini Free Tier đã được gọi; khi provider lỗi, chat fallback RAG. Không bật billing trả phí.</a:t>
            </a:r>
          </a:p>
        </p:txBody>
      </p:sp>
    </p:spTree>
    <p:extLst>
      <p:ext uri="{BB962C8B-B14F-4D97-AF65-F5344CB8AC3E}">
        <p14:creationId xmlns:p14="http://schemas.microsoft.com/office/powerpoint/2010/main" val="3013458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B7F7F-736A-4CDD-A9B3-1AE1B225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8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C9402-536B-4C46-934D-193DCBBC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11 · HOÀN THIỆN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CFBE4-3B5C-4A66-B3E2-3750554C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Giới hạn và câu hỏi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FADAC-5FFD-49DD-B2BF-C31BD84D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5D34F-A373-4F59-B07E-C7A09AA4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76"/>
                </a:solidFill>
                <a:latin typeface="Arial"/>
                <a:ea typeface="Arial"/>
                <a:cs typeface="Arial"/>
              </a:rPr>
              <a:t>VƯỜN HOA AI  ·  ĐỒ ÁN LẬP TRÌNH WEB NÂNG CAO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B80B0-734C-4A58-8EBC-6928F098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6AEA0-44D1-4DAE-9334-3BA54E10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E8758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758D"/>
                </a:solidFill>
                <a:latin typeface="Arial"/>
                <a:ea typeface="Arial"/>
                <a:cs typeface="Arial"/>
              </a:rPr>
              <a:t>ĐÃ BIẾT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355C6-5693-452A-93E3-1755352B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• Render Free cold start: AI ảnh mất khoảng 34–53 giây trong lượt đo.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• Detector chỉ 4 lớp; classifier validation dùng chọn checkpoint.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• Mô tả offline: P@5 = 0,32 trên 10 prompt thủ công.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• Retrieval held-out cùng nguồn ảnh, chưa kiểm tra ảnh tự chụp ngoài bộ.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• RAG chưa chấm độc lập tính đúng câu trả lời.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F6957-2456-40C1-9EE6-FA6C32E8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C88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886C"/>
                </a:solidFill>
                <a:latin typeface="Arial"/>
                <a:ea typeface="Arial"/>
                <a:cs typeface="Arial"/>
              </a:rPr>
              <a:t>BƯỚC TIẾP THEO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FD707-6A29-44D7-8B28-562E779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8597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• Thu thập bộ test độc lập lớn hơn.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• Mở rộng detector và tài liệu RAG.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• Đo tải, cold start và trải nghiệm thiết bị.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334A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• </a:t>
            </a:r>
            <a:r>
              <a:rPr sz="1575" b="0">
                <a:solidFill>
                  <a:srgbClr val="334A3C"/>
                </a:solidFill>
                <a:latin typeface="Arial"/>
                <a:ea typeface="Arial"/>
                <a:cs typeface="Arial"/>
              </a:rPr>
              <a:t>Hoàn thiện phần việc, tỷ lệ 100% và chữ ký trong bảng phân công nhóm riêng.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17EE0-B6F8-4A7E-B791-29687624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688FC-B45A-4D54-80AD-E8EF9B28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93F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3F32"/>
                </a:solidFill>
                <a:latin typeface="Arial"/>
                <a:ea typeface="Arial"/>
                <a:cs typeface="Arial"/>
              </a:rPr>
              <a:t>CÂU HỎI &amp; TRAO ĐỔI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11659-FA25-43AC-A627-EF8DB3E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7180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18076"/>
                </a:solidFill>
                <a:latin typeface="Arial"/>
                <a:ea typeface="Arial"/>
                <a:cs typeface="Arial"/>
              </a:rPr>
              <a:t>Nhóm cần tự điền người trình bày từng phần và tập trả lời: kiến trúc, giới hạn mô hình, bảo mật, scale và xử lý lỗi.</a:t>
            </a:r>
          </a:p>
        </p:txBody>
      </p:sp>
    </p:spTree>
    <p:extLst>
      <p:ext uri="{BB962C8B-B14F-4D97-AF65-F5344CB8AC3E}">
        <p14:creationId xmlns:p14="http://schemas.microsoft.com/office/powerpoint/2010/main" val="1000592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2026-10-23T10:55:58.8610000Z</dcterms:created>
  <dcterms:modified xsi:type="dcterms:W3CDTF">2026-10-23T10:55:58.8610000Z</dcterms:modified>
</coreProperties>
</file>